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1"/>
  </p:notesMasterIdLst>
  <p:handoutMasterIdLst>
    <p:handoutMasterId r:id="rId22"/>
  </p:handoutMasterIdLst>
  <p:sldIdLst>
    <p:sldId id="268" r:id="rId5"/>
    <p:sldId id="310" r:id="rId6"/>
    <p:sldId id="311" r:id="rId7"/>
    <p:sldId id="314" r:id="rId8"/>
    <p:sldId id="312" r:id="rId9"/>
    <p:sldId id="313" r:id="rId10"/>
    <p:sldId id="315" r:id="rId11"/>
    <p:sldId id="316" r:id="rId12"/>
    <p:sldId id="317" r:id="rId13"/>
    <p:sldId id="319" r:id="rId14"/>
    <p:sldId id="320" r:id="rId15"/>
    <p:sldId id="321" r:id="rId16"/>
    <p:sldId id="322" r:id="rId17"/>
    <p:sldId id="324" r:id="rId18"/>
    <p:sldId id="325" r:id="rId19"/>
    <p:sldId id="323" r:id="rId20"/>
  </p:sldIdLst>
  <p:sldSz cx="12192000" cy="6858000"/>
  <p:notesSz cx="6858000" cy="9144000"/>
  <p:defaultTextStyle>
    <a:defPPr rtl="0"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19" autoAdjust="0"/>
  </p:normalViewPr>
  <p:slideViewPr>
    <p:cSldViewPr snapToGrid="0">
      <p:cViewPr varScale="1">
        <p:scale>
          <a:sx n="156" d="100"/>
          <a:sy n="156" d="100"/>
        </p:scale>
        <p:origin x="34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56F2DC-C82E-467D-8429-796391AB2FCA}" type="datetime1">
              <a:rPr lang="es-MX" smtClean="0"/>
              <a:t>10/11/2025</a:t>
            </a:fld>
            <a:endParaRPr lang="es-MX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05B8AA-68FF-4C42-A3C3-EB3F81DC4E2F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5314800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noProof="0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16E400-A75A-4651-A858-9DF4211ED7EC}" type="datetime1">
              <a:rPr lang="es-MX" noProof="0" smtClean="0"/>
              <a:t>10/11/2025</a:t>
            </a:fld>
            <a:endParaRPr lang="es-MX" noProof="0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noProof="0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MX" noProof="0" dirty="0"/>
              <a:t>Haz clic para modificar los estilos de texto del patrón</a:t>
            </a:r>
          </a:p>
          <a:p>
            <a:pPr lvl="1"/>
            <a:r>
              <a:rPr lang="es-MX" noProof="0" dirty="0"/>
              <a:t>Segundo nivel</a:t>
            </a:r>
          </a:p>
          <a:p>
            <a:pPr lvl="2"/>
            <a:r>
              <a:rPr lang="es-MX" noProof="0" dirty="0"/>
              <a:t>Tercer nivel</a:t>
            </a:r>
          </a:p>
          <a:p>
            <a:pPr lvl="3"/>
            <a:r>
              <a:rPr lang="es-MX" noProof="0" dirty="0"/>
              <a:t>Cuarto nivel</a:t>
            </a:r>
          </a:p>
          <a:p>
            <a:pPr lvl="4"/>
            <a:r>
              <a:rPr lang="es-MX" noProof="0" dirty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noProof="0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7EBA94-FF83-4505-BE0C-CDC8046E996E}" type="slidenum">
              <a:rPr lang="es-MX" noProof="0" smtClean="0"/>
              <a:t>‹Nº›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7399607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7EBA94-FF83-4505-BE0C-CDC8046E996E}" type="slidenum">
              <a:rPr lang="es-MX" smtClean="0"/>
              <a:t>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845283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7EBA94-FF83-4505-BE0C-CDC8046E996E}" type="slidenum">
              <a:rPr lang="es-MX" smtClean="0"/>
              <a:t>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15466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es-ES" noProof="0"/>
              <a:t>Haga clic para modificar el estilo de subtítulo del patrón</a:t>
            </a:r>
            <a:endParaRPr lang="es-MX" noProof="0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posición de fecha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FD2FD99-16EA-4802-AFE3-7D1C25FBEF28}" type="datetime1">
              <a:rPr lang="es-MX" noProof="0" smtClean="0"/>
              <a:t>10/11/2025</a:t>
            </a:fld>
            <a:endParaRPr lang="es-MX" noProof="0" dirty="0"/>
          </a:p>
        </p:txBody>
      </p:sp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MX" noProof="0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MX" noProof="0" smtClean="0"/>
              <a:t>‹Nº›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227225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MX" noProof="0" dirty="0"/>
          </a:p>
        </p:txBody>
      </p:sp>
      <p:sp>
        <p:nvSpPr>
          <p:cNvPr id="7" name="Marcador de posición de fecha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E6B675D-568F-49A1-BD6A-68B8E13D1586}" type="datetime1">
              <a:rPr lang="es-MX" noProof="0" smtClean="0"/>
              <a:t>10/11/2025</a:t>
            </a:fld>
            <a:endParaRPr lang="es-MX" noProof="0" dirty="0"/>
          </a:p>
        </p:txBody>
      </p:sp>
      <p:sp>
        <p:nvSpPr>
          <p:cNvPr id="8" name="Marcador de posición de pie de página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MX" noProof="0" dirty="0"/>
          </a:p>
        </p:txBody>
      </p:sp>
      <p:sp>
        <p:nvSpPr>
          <p:cNvPr id="9" name="Marcador de posición de número de diapositiva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MX" noProof="0" smtClean="0"/>
              <a:t>‹Nº›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375201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Marcador de posición de fecha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DE82497-5ADD-4D09-8857-EBB02132C1F4}" type="datetime1">
              <a:rPr lang="es-MX" noProof="0" smtClean="0"/>
              <a:t>10/11/2025</a:t>
            </a:fld>
            <a:endParaRPr lang="es-MX" noProof="0" dirty="0"/>
          </a:p>
        </p:txBody>
      </p:sp>
      <p:sp>
        <p:nvSpPr>
          <p:cNvPr id="8" name="Marcador de posición de pie de página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MX" noProof="0" dirty="0"/>
          </a:p>
        </p:txBody>
      </p:sp>
      <p:sp>
        <p:nvSpPr>
          <p:cNvPr id="11" name="Marcador de posición de número de diapositiva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MX" noProof="0" smtClean="0"/>
              <a:t>‹Nº›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770401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MX" noProof="0" dirty="0"/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MX" noProof="0" dirty="0"/>
          </a:p>
        </p:txBody>
      </p:sp>
      <p:sp>
        <p:nvSpPr>
          <p:cNvPr id="2" name="Marcador de posición de fecha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D3C266F-84BE-4EF0-BB48-43198DB6DB3F}" type="datetime1">
              <a:rPr lang="es-MX" noProof="0" smtClean="0"/>
              <a:t>10/11/2025</a:t>
            </a:fld>
            <a:endParaRPr lang="es-MX" noProof="0" dirty="0"/>
          </a:p>
        </p:txBody>
      </p:sp>
      <p:sp>
        <p:nvSpPr>
          <p:cNvPr id="9" name="Marcador de posición de pie de página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MX" noProof="0" dirty="0"/>
          </a:p>
        </p:txBody>
      </p:sp>
      <p:sp>
        <p:nvSpPr>
          <p:cNvPr id="10" name="Marcador de posición de número de diapositiva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MX" noProof="0" smtClean="0"/>
              <a:t>‹Nº›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115223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MX" noProof="0" dirty="0"/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MX" noProof="0" dirty="0"/>
          </a:p>
        </p:txBody>
      </p:sp>
      <p:sp>
        <p:nvSpPr>
          <p:cNvPr id="2" name="Marcador de posición de fecha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33BC8CB-E617-40CD-833B-84BA4A4ABC4B}" type="datetime1">
              <a:rPr lang="es-MX" noProof="0" smtClean="0"/>
              <a:t>10/11/2025</a:t>
            </a:fld>
            <a:endParaRPr lang="es-MX" noProof="0" dirty="0"/>
          </a:p>
        </p:txBody>
      </p:sp>
      <p:sp>
        <p:nvSpPr>
          <p:cNvPr id="11" name="Marcador de posición de pie de página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MX" noProof="0" dirty="0"/>
          </a:p>
        </p:txBody>
      </p:sp>
      <p:sp>
        <p:nvSpPr>
          <p:cNvPr id="12" name="Marcador de posición de número de diapositiva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MX" noProof="0" smtClean="0"/>
              <a:t>‹Nº›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331677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sp>
        <p:nvSpPr>
          <p:cNvPr id="6" name="Marcador de posición de fecha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83737CE-0264-4010-9F11-00BE02259932}" type="datetime1">
              <a:rPr lang="es-MX" noProof="0" smtClean="0"/>
              <a:t>10/11/2025</a:t>
            </a:fld>
            <a:endParaRPr lang="es-MX" noProof="0" dirty="0"/>
          </a:p>
        </p:txBody>
      </p:sp>
      <p:sp>
        <p:nvSpPr>
          <p:cNvPr id="7" name="Marcador de posición de pie de página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MX" noProof="0" dirty="0"/>
          </a:p>
        </p:txBody>
      </p:sp>
      <p:sp>
        <p:nvSpPr>
          <p:cNvPr id="8" name="Marcador de posición de número de diapositiva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MX" noProof="0" smtClean="0"/>
              <a:t>‹Nº›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1042260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Marcador de posición de fecha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232844F-E5F8-40A5-8E66-236B8B8B3FD9}" type="datetime1">
              <a:rPr lang="es-MX" noProof="0" smtClean="0"/>
              <a:t>10/11/2025</a:t>
            </a:fld>
            <a:endParaRPr lang="es-MX" noProof="0" dirty="0"/>
          </a:p>
        </p:txBody>
      </p:sp>
      <p:sp>
        <p:nvSpPr>
          <p:cNvPr id="3" name="Marcador de posición de pie de página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MX" noProof="0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MX" noProof="0" smtClean="0"/>
              <a:t>‹Nº›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3440723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MX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F34CDDF3-3518-4F95-821A-9E682501CB7F}" type="datetime1">
              <a:rPr lang="es-MX" noProof="0" smtClean="0"/>
              <a:t>10/11/2025</a:t>
            </a:fld>
            <a:endParaRPr lang="es-MX" noProof="0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s-MX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es-MX" noProof="0" smtClean="0"/>
              <a:pPr rtl="0"/>
              <a:t>‹Nº›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241185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MX" noProof="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97CAAD2C-82AB-4ECA-A955-235FBBC465A9}" type="datetime1">
              <a:rPr lang="es-MX" noProof="0" smtClean="0"/>
              <a:t>10/11/2025</a:t>
            </a:fld>
            <a:endParaRPr lang="es-MX" noProof="0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es-MX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MX" noProof="0" smtClean="0"/>
              <a:t>‹Nº›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2884398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" name="Marcador de posición de título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s-MX" noProof="0" dirty="0"/>
              <a:t>Haz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es-MX" noProof="0" dirty="0"/>
              <a:t>Haz clic para modificar los estilos de texto del patrón</a:t>
            </a:r>
          </a:p>
          <a:p>
            <a:pPr lvl="1" rtl="0"/>
            <a:r>
              <a:rPr lang="es-MX" noProof="0" dirty="0"/>
              <a:t>Segundo nivel</a:t>
            </a:r>
          </a:p>
          <a:p>
            <a:pPr lvl="2" rtl="0"/>
            <a:r>
              <a:rPr lang="es-MX" noProof="0" dirty="0"/>
              <a:t>Tercer nivel</a:t>
            </a:r>
          </a:p>
          <a:p>
            <a:pPr lvl="3" rtl="0"/>
            <a:r>
              <a:rPr lang="es-MX" noProof="0" dirty="0"/>
              <a:t>Cuarto nivel</a:t>
            </a:r>
          </a:p>
          <a:p>
            <a:pPr lvl="4" rtl="0"/>
            <a:r>
              <a:rPr lang="es-MX" noProof="0" dirty="0"/>
              <a:t>Quinto nivel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172BCF83-3AC0-44CC-9800-4CA27A208E1F}" type="datetime1">
              <a:rPr lang="es-MX" noProof="0" smtClean="0"/>
              <a:t>10/11/2025</a:t>
            </a:fld>
            <a:endParaRPr lang="es-MX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es-MX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es-MX" noProof="0" smtClean="0"/>
              <a:t>‹Nº›</a:t>
            </a:fld>
            <a:endParaRPr lang="es-MX" noProof="0" dirty="0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070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ángulo 26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010AF38-26DF-48B3-952C-4A9091D68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928" y="639097"/>
            <a:ext cx="6782873" cy="3686015"/>
          </a:xfrm>
        </p:spPr>
        <p:txBody>
          <a:bodyPr rtlCol="0">
            <a:normAutofit/>
          </a:bodyPr>
          <a:lstStyle/>
          <a:p>
            <a:r>
              <a:rPr lang="es-MX" b="1" dirty="0" err="1"/>
              <a:t>Persistent</a:t>
            </a:r>
            <a:r>
              <a:rPr lang="es-MX" b="1" dirty="0"/>
              <a:t> </a:t>
            </a:r>
            <a:r>
              <a:rPr lang="es-MX" b="1" dirty="0" err="1"/>
              <a:t>Surveillance</a:t>
            </a:r>
            <a:r>
              <a:rPr lang="es-MX" b="1" dirty="0"/>
              <a:t> </a:t>
            </a:r>
            <a:r>
              <a:rPr lang="es-MX" b="1" dirty="0" err="1"/>
              <a:t>Problem</a:t>
            </a:r>
            <a:endParaRPr lang="es-MX" sz="80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7FC2D8F-56D2-4ADF-B439-0E09E7C37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899" y="4672739"/>
            <a:ext cx="6269347" cy="1021498"/>
          </a:xfrm>
        </p:spPr>
        <p:txBody>
          <a:bodyPr rtlCol="0">
            <a:normAutofit fontScale="55000" lnSpcReduction="20000"/>
          </a:bodyPr>
          <a:lstStyle/>
          <a:p>
            <a:pPr rtl="0"/>
            <a:r>
              <a:rPr lang="es-MX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alumno: Germán Fernández</a:t>
            </a:r>
          </a:p>
          <a:p>
            <a:pPr rtl="0"/>
            <a:r>
              <a:rPr lang="es-MX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Ayudante: Nicolás Armijo</a:t>
            </a:r>
          </a:p>
          <a:p>
            <a:pPr rtl="0"/>
            <a:r>
              <a:rPr lang="es-MX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PROFESORA: María cristina riff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44179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n 5">
            <a:extLst>
              <a:ext uri="{FF2B5EF4-FFF2-40B4-BE49-F238E27FC236}">
                <a16:creationId xmlns:a16="http://schemas.microsoft.com/office/drawing/2014/main" id="{308AC96E-AA33-4309-B51D-072F59E6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56686" y="1"/>
            <a:ext cx="4635315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747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76CB32-901A-4DA0-AA8A-9A7B5A88B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>
            <a:normAutofit/>
          </a:bodyPr>
          <a:lstStyle/>
          <a:p>
            <a:r>
              <a:rPr lang="es-MX" dirty="0"/>
              <a:t>Introducción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Marcador de contenido 3">
                <a:extLst>
                  <a:ext uri="{FF2B5EF4-FFF2-40B4-BE49-F238E27FC236}">
                    <a16:creationId xmlns:a16="http://schemas.microsoft.com/office/drawing/2014/main" id="{1D6803C2-E31A-12B1-B577-320CBAE2F7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2660" y="2138886"/>
                <a:ext cx="6260878" cy="3760891"/>
              </a:xfrm>
            </p:spPr>
            <p:txBody>
              <a:bodyPr>
                <a:normAutofit lnSpcReduction="10000"/>
              </a:bodyPr>
              <a:lstStyle/>
              <a:p>
                <a:pPr marL="0" indent="0" algn="just">
                  <a:buNone/>
                </a:pPr>
                <a:r>
                  <a:rPr lang="en-US" sz="1600" b="1" u="sng" dirty="0"/>
                  <a:t>Escenario</a:t>
                </a:r>
                <a:r>
                  <a:rPr lang="en-US" sz="1600" dirty="0"/>
                  <a:t>: Se </a:t>
                </a:r>
                <a:r>
                  <a:rPr lang="en-US" sz="1600" dirty="0" err="1"/>
                  <a:t>representa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como</a:t>
                </a:r>
                <a:r>
                  <a:rPr lang="en-US" sz="1600" dirty="0"/>
                  <a:t> </a:t>
                </a:r>
                <a:r>
                  <a:rPr lang="en-US" sz="1600" dirty="0" err="1"/>
                  <a:t>una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grilla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MX" sz="1600" dirty="0"/>
                  <a:t>.</a:t>
                </a:r>
                <a:endParaRPr lang="en-US" sz="1600" dirty="0"/>
              </a:p>
              <a:p>
                <a:pPr marL="0" indent="0" algn="just">
                  <a:buNone/>
                </a:pPr>
                <a:r>
                  <a:rPr lang="en-US" sz="1600" b="1" u="sng" dirty="0" err="1"/>
                  <a:t>Estrategia</a:t>
                </a:r>
                <a:r>
                  <a:rPr lang="en-US" sz="1600" dirty="0"/>
                  <a:t>: </a:t>
                </a:r>
                <a:r>
                  <a:rPr lang="en-US" sz="1600" dirty="0" err="1"/>
                  <a:t>Utilización</a:t>
                </a:r>
                <a:r>
                  <a:rPr lang="en-US" sz="1600" dirty="0"/>
                  <a:t> de </a:t>
                </a:r>
                <a:r>
                  <a:rPr lang="en-US" sz="1600" b="1" dirty="0"/>
                  <a:t>k</a:t>
                </a:r>
                <a:r>
                  <a:rPr lang="en-US" sz="1600" dirty="0"/>
                  <a:t> UAVs </a:t>
                </a:r>
                <a:r>
                  <a:rPr lang="en-US" sz="1600" dirty="0" err="1"/>
                  <a:t>en</a:t>
                </a:r>
                <a:r>
                  <a:rPr lang="en-US" sz="1600" dirty="0"/>
                  <a:t> </a:t>
                </a:r>
                <a:r>
                  <a:rPr lang="en-US" sz="1600" dirty="0" err="1"/>
                  <a:t>una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ventana</a:t>
                </a:r>
                <a:r>
                  <a:rPr lang="en-US" sz="1600" dirty="0"/>
                  <a:t> de </a:t>
                </a:r>
                <a:r>
                  <a:rPr lang="en-US" sz="1600" dirty="0" err="1"/>
                  <a:t>tiempo</a:t>
                </a:r>
                <a:r>
                  <a:rPr lang="en-US" sz="1600" dirty="0"/>
                  <a:t> </a:t>
                </a:r>
                <a:r>
                  <a:rPr lang="en-US" sz="1600" b="1" dirty="0"/>
                  <a:t>T</a:t>
                </a:r>
                <a:r>
                  <a:rPr lang="en-US" sz="1600" dirty="0"/>
                  <a:t>, </a:t>
                </a:r>
              </a:p>
              <a:p>
                <a:pPr marL="0" indent="0" algn="just">
                  <a:buNone/>
                </a:pPr>
                <a:r>
                  <a:rPr lang="en-US" sz="1600" dirty="0" err="1"/>
                  <a:t>los</a:t>
                </a:r>
                <a:r>
                  <a:rPr lang="en-US" sz="1600" dirty="0"/>
                  <a:t> drones </a:t>
                </a:r>
                <a:r>
                  <a:rPr lang="en-US" sz="1600" dirty="0" err="1"/>
                  <a:t>pueden</a:t>
                </a:r>
                <a:r>
                  <a:rPr lang="en-US" sz="1600" dirty="0"/>
                  <a:t> </a:t>
                </a:r>
                <a:r>
                  <a:rPr lang="en-US" sz="1600" dirty="0" err="1"/>
                  <a:t>moverse</a:t>
                </a:r>
                <a:r>
                  <a:rPr lang="en-US" sz="1600" dirty="0"/>
                  <a:t> a las 8 Casillas </a:t>
                </a:r>
                <a:r>
                  <a:rPr lang="en-US" sz="1600" dirty="0" err="1"/>
                  <a:t>vecinas</a:t>
                </a:r>
                <a:r>
                  <a:rPr lang="en-US" sz="1600" dirty="0"/>
                  <a:t> o </a:t>
                </a:r>
                <a:r>
                  <a:rPr lang="en-US" sz="1600" dirty="0" err="1"/>
                  <a:t>mantenerse</a:t>
                </a:r>
                <a:r>
                  <a:rPr lang="en-US" sz="1600" dirty="0"/>
                  <a:t>.</a:t>
                </a:r>
              </a:p>
              <a:p>
                <a:pPr marL="0" indent="0" algn="just">
                  <a:buNone/>
                </a:pPr>
                <a:r>
                  <a:rPr lang="es-MX" sz="1600" b="1" u="sng" dirty="0"/>
                  <a:t>Casillas</a:t>
                </a:r>
                <a:r>
                  <a:rPr lang="es-MX" sz="1600" dirty="0"/>
                  <a:t>:</a:t>
                </a:r>
              </a:p>
              <a:p>
                <a:pPr marL="0" indent="0" algn="just">
                  <a:buNone/>
                </a:pPr>
                <a:r>
                  <a:rPr lang="es-MX" sz="1600" dirty="0"/>
                  <a:t>- </a:t>
                </a:r>
                <a:r>
                  <a:rPr lang="es-MX" sz="1600" b="1" dirty="0"/>
                  <a:t>Bases</a:t>
                </a:r>
                <a:r>
                  <a:rPr lang="es-MX" sz="1600" dirty="0"/>
                  <a:t>: Dónde inician los drones (con urgencia 0)</a:t>
                </a:r>
              </a:p>
              <a:p>
                <a:pPr marL="0" indent="0" algn="just">
                  <a:buNone/>
                </a:pPr>
                <a:r>
                  <a:rPr lang="es-MX" sz="1600" b="1" dirty="0"/>
                  <a:t>- Con Urgencia</a:t>
                </a:r>
                <a:r>
                  <a:rPr lang="es-MX" sz="1600" dirty="0"/>
                  <a:t>: Son aquellas que los drones deben cubrir </a:t>
                </a:r>
              </a:p>
              <a:p>
                <a:pPr marL="0" indent="0" algn="just">
                  <a:buNone/>
                </a:pPr>
                <a:r>
                  <a:rPr lang="es-MX" sz="1600" dirty="0"/>
                  <a:t>  y su urgencia aumenta en U cada </a:t>
                </a:r>
                <a:r>
                  <a:rPr lang="es-MX" sz="1600" dirty="0" err="1"/>
                  <a:t>tick</a:t>
                </a:r>
                <a:endParaRPr lang="es-MX" sz="1600" dirty="0"/>
              </a:p>
              <a:p>
                <a:pPr marL="0" indent="0" algn="just">
                  <a:buNone/>
                </a:pPr>
                <a:r>
                  <a:rPr lang="es-MX" sz="1600" dirty="0"/>
                  <a:t>- </a:t>
                </a:r>
                <a:r>
                  <a:rPr lang="es-MX" sz="1600" b="1" dirty="0"/>
                  <a:t>Obstáculos</a:t>
                </a:r>
                <a:r>
                  <a:rPr lang="es-MX" sz="1600" dirty="0"/>
                  <a:t>: Son casillas en las cuales los drones no pueden sobrevolar</a:t>
                </a:r>
              </a:p>
              <a:p>
                <a:pPr marL="0" indent="0" algn="just">
                  <a:buNone/>
                </a:pPr>
                <a:r>
                  <a:rPr lang="es-MX" sz="1600" dirty="0"/>
                  <a:t>- </a:t>
                </a:r>
                <a:r>
                  <a:rPr lang="es-MX" sz="1600" b="1" dirty="0"/>
                  <a:t>Libres</a:t>
                </a:r>
                <a:r>
                  <a:rPr lang="es-MX" sz="1600" dirty="0"/>
                  <a:t>: Tienen urgencia 0.</a:t>
                </a:r>
              </a:p>
            </p:txBody>
          </p:sp>
        </mc:Choice>
        <mc:Fallback>
          <p:sp>
            <p:nvSpPr>
              <p:cNvPr id="4" name="Marcador de contenido 3">
                <a:extLst>
                  <a:ext uri="{FF2B5EF4-FFF2-40B4-BE49-F238E27FC236}">
                    <a16:creationId xmlns:a16="http://schemas.microsoft.com/office/drawing/2014/main" id="{1D6803C2-E31A-12B1-B577-320CBAE2F7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2660" y="2138886"/>
                <a:ext cx="6260878" cy="3760891"/>
              </a:xfrm>
              <a:blipFill>
                <a:blip r:embed="rId4"/>
                <a:stretch>
                  <a:fillRect l="-1947" t="-486" r="-876" b="-81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n 5">
            <a:extLst>
              <a:ext uri="{FF2B5EF4-FFF2-40B4-BE49-F238E27FC236}">
                <a16:creationId xmlns:a16="http://schemas.microsoft.com/office/drawing/2014/main" id="{A4CF7E5C-CBB2-2C30-751E-9B5026E811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9454" y="2000633"/>
            <a:ext cx="5279886" cy="3645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546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3BA6D0-9B39-A05B-E1EE-54070BBA3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Objetivo</a:t>
            </a:r>
            <a:r>
              <a:rPr lang="en-US" dirty="0"/>
              <a:t> y </a:t>
            </a:r>
            <a:r>
              <a:rPr lang="en-US" dirty="0" err="1"/>
              <a:t>restricciones</a:t>
            </a:r>
            <a:endParaRPr lang="es-MX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525BD47-DD15-26F1-CC27-0B406F34CA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2077516"/>
                <a:ext cx="10058400" cy="376089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u="sng" dirty="0"/>
                  <a:t>Objetivo</a:t>
                </a:r>
                <a:r>
                  <a:rPr lang="en-US" dirty="0"/>
                  <a:t>: </a:t>
                </a:r>
                <a:r>
                  <a:rPr lang="es-MX" b="1" dirty="0"/>
                  <a:t>minimizar la urgencia acumulada</a:t>
                </a:r>
                <a:r>
                  <a:rPr lang="es-MX" dirty="0"/>
                  <a:t> durante </a:t>
                </a:r>
                <a14:m>
                  <m:oMath xmlns:m="http://schemas.openxmlformats.org/officeDocument/2006/math">
                    <m:r>
                      <a:rPr lang="es-MX" i="1"/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MX" dirty="0" err="1"/>
                  <a:t>ticks</a:t>
                </a:r>
                <a:r>
                  <a:rPr lang="es-MX" dirty="0"/>
                  <a:t>.</a:t>
                </a:r>
              </a:p>
              <a:p>
                <a:pPr marL="0" indent="0">
                  <a:buNone/>
                </a:pPr>
                <a:r>
                  <a:rPr lang="es-MX" b="1" u="sng" dirty="0"/>
                  <a:t>Restricciones</a:t>
                </a:r>
                <a:r>
                  <a:rPr lang="es-MX" dirty="0"/>
                  <a:t>:</a:t>
                </a:r>
              </a:p>
              <a:p>
                <a:pPr marL="0" indent="0">
                  <a:buNone/>
                </a:pPr>
                <a:r>
                  <a:rPr lang="es-MX" dirty="0"/>
                  <a:t>- Cada dron parte desde una base.</a:t>
                </a:r>
              </a:p>
              <a:p>
                <a:pPr marL="0" indent="0">
                  <a:buNone/>
                </a:pPr>
                <a:r>
                  <a:rPr lang="es-MX" dirty="0"/>
                  <a:t>- No pueden pasar por obstáculos.</a:t>
                </a:r>
              </a:p>
              <a:p>
                <a:pPr marL="0" indent="0">
                  <a:buNone/>
                </a:pPr>
                <a:r>
                  <a:rPr lang="es-MX" dirty="0"/>
                  <a:t>- No pueden coincidir dos drones en la misma celda.</a:t>
                </a:r>
              </a:p>
              <a:p>
                <a:pPr marL="0" indent="0">
                  <a:buNone/>
                </a:pPr>
                <a:r>
                  <a:rPr lang="es-MX" dirty="0"/>
                  <a:t>- Sin restricción de batería ni señal.</a:t>
                </a:r>
              </a:p>
              <a:p>
                <a:endParaRPr lang="es-MX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525BD47-DD15-26F1-CC27-0B406F34CA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2077516"/>
                <a:ext cx="10058400" cy="3760891"/>
              </a:xfrm>
              <a:blipFill>
                <a:blip r:embed="rId2"/>
                <a:stretch>
                  <a:fillRect l="-1455" t="-81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1484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AA68AC-E67C-278A-FF1F-88023297C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Técnica: </a:t>
            </a:r>
            <a:r>
              <a:rPr lang="en-US" dirty="0" err="1"/>
              <a:t>Tabú</a:t>
            </a:r>
            <a:r>
              <a:rPr lang="en-US" dirty="0"/>
              <a:t> Search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61308B-0F08-2780-B04F-97C0B3B4EC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83165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CE2471-C983-0A30-E3E7-957CBB36D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Representación</a:t>
            </a:r>
            <a:endParaRPr lang="es-MX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BE1A7109-2AFB-28CC-85EF-7FB5A9B8CB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833617" y="4796170"/>
                <a:ext cx="6524766" cy="1512577"/>
              </a:xfrm>
            </p:spPr>
            <p:txBody>
              <a:bodyPr>
                <a:normAutofit fontScale="77500" lnSpcReduction="20000"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MX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𝑀𝑜𝑣𝑖𝑚𝑖𝑒𝑛𝑡𝑜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𝑟𝑒𝑎𝑙𝑖𝑧𝑎𝑑𝑜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𝑑𝑟𝑜𝑛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𝑖𝑛𝑠𝑡𝑎𝑛𝑡𝑒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∈ 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𝑁𝑜𝑟𝑡𝑒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𝑁𝑜𝑟𝑒𝑠𝑡𝑒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𝐸𝑠𝑡𝑒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𝑆𝑢𝑟𝑒𝑠𝑡𝑒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𝑆𝑢𝑟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𝑆𝑢𝑟𝑜𝑒𝑠𝑡𝑒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𝑂𝑒𝑠𝑡𝑒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𝑁𝑜𝑟𝑜𝑒𝑠𝑡𝑒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𝐻𝑎𝑙𝑡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</m:oMath>
                </a14:m>
                <a:endParaRPr lang="es-MX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∈{1, 2, …,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lang="es-MX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BE1A7109-2AFB-28CC-85EF-7FB5A9B8CB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33617" y="4796170"/>
                <a:ext cx="6524766" cy="1512577"/>
              </a:xfrm>
              <a:blipFill>
                <a:blip r:embed="rId2"/>
                <a:stretch>
                  <a:fillRect l="-177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agen 6">
            <a:extLst>
              <a:ext uri="{FF2B5EF4-FFF2-40B4-BE49-F238E27FC236}">
                <a16:creationId xmlns:a16="http://schemas.microsoft.com/office/drawing/2014/main" id="{2C11773E-309C-A75A-C586-18285CCC7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1531" y="2316245"/>
            <a:ext cx="4556997" cy="222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8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7587B9-6DD6-C1B7-059B-E2C69D366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Función</a:t>
            </a:r>
            <a:r>
              <a:rPr lang="en-US" dirty="0"/>
              <a:t> de </a:t>
            </a:r>
            <a:r>
              <a:rPr lang="en-US" dirty="0" err="1"/>
              <a:t>Evaluación</a:t>
            </a:r>
            <a:endParaRPr lang="es-MX" dirty="0"/>
          </a:p>
        </p:txBody>
      </p:sp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BD4FA077-C1C0-EEBC-9783-5C68F24389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2941" y="2108200"/>
            <a:ext cx="7726444" cy="3760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561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1999BF-6839-FC07-5C0F-805DDDC9A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Movimiento</a:t>
            </a:r>
            <a:endParaRPr lang="es-MX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0B531BB9-A242-51A6-27F2-ED80C27C1A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MX" dirty="0"/>
                  <a:t>Los movimientos se codifican de forma discreta y ordenada en sentido horario, y la generación de vecinos avanza iterando primero en el tiempo y luego por dron, realizando un único cambio por vecino dentro de la matriz </a:t>
                </a:r>
                <a14:m>
                  <m:oMath xmlns:m="http://schemas.openxmlformats.org/officeDocument/2006/math">
                    <m:r>
                      <a:rPr lang="es-MX" i="1"/>
                      <m:t>𝑆</m:t>
                    </m:r>
                  </m:oMath>
                </a14:m>
                <a:r>
                  <a:rPr lang="es-MX" dirty="0"/>
                  <a:t>.</a:t>
                </a: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0B531BB9-A242-51A6-27F2-ED80C27C1A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45" t="-810" r="-157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4390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ADA884-0A95-A1ED-3E39-96BF6B841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382" y="263529"/>
            <a:ext cx="12224730" cy="1450757"/>
          </a:xfrm>
        </p:spPr>
        <p:txBody>
          <a:bodyPr/>
          <a:lstStyle/>
          <a:p>
            <a:r>
              <a:rPr lang="en-US" dirty="0" err="1"/>
              <a:t>Solución</a:t>
            </a:r>
            <a:r>
              <a:rPr lang="en-US" dirty="0"/>
              <a:t> </a:t>
            </a:r>
            <a:r>
              <a:rPr lang="en-US" dirty="0" err="1"/>
              <a:t>inicial</a:t>
            </a:r>
            <a:r>
              <a:rPr lang="en-US" dirty="0"/>
              <a:t> y conjunto de </a:t>
            </a:r>
            <a:r>
              <a:rPr lang="en-US" dirty="0" err="1"/>
              <a:t>soluciones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0A87EB3-A4E6-40DA-3A58-9505B372A4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 err="1"/>
              <a:t>Solución</a:t>
            </a:r>
            <a:r>
              <a:rPr lang="en-US" b="1" u="sng" dirty="0"/>
              <a:t> </a:t>
            </a:r>
            <a:r>
              <a:rPr lang="en-US" b="1" u="sng" dirty="0" err="1"/>
              <a:t>inicial</a:t>
            </a:r>
            <a:r>
              <a:rPr lang="en-US" dirty="0"/>
              <a:t>: Es </a:t>
            </a:r>
            <a:r>
              <a:rPr lang="en-US" dirty="0" err="1"/>
              <a:t>aleatoria</a:t>
            </a:r>
            <a:r>
              <a:rPr lang="en-US" dirty="0"/>
              <a:t> y </a:t>
            </a:r>
            <a:r>
              <a:rPr lang="en-US" dirty="0" err="1"/>
              <a:t>factible</a:t>
            </a:r>
            <a:r>
              <a:rPr lang="en-US" dirty="0"/>
              <a:t>.</a:t>
            </a:r>
          </a:p>
          <a:p>
            <a:r>
              <a:rPr lang="en-US" b="1" u="sng" dirty="0"/>
              <a:t>Conjunto de </a:t>
            </a:r>
            <a:r>
              <a:rPr lang="en-US" b="1" u="sng" dirty="0" err="1"/>
              <a:t>soluciones</a:t>
            </a:r>
            <a:r>
              <a:rPr lang="en-US" dirty="0"/>
              <a:t>: </a:t>
            </a:r>
            <a:r>
              <a:rPr lang="en-US" dirty="0" err="1"/>
              <a:t>Factibles</a:t>
            </a:r>
            <a:r>
              <a:rPr lang="en-US" dirty="0"/>
              <a:t>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2521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B6A743-98EA-551F-7449-6CE8B9910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Escenario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código</a:t>
            </a:r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4A9C760-B29A-9774-C28F-2DBD988A2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4342" y="2229350"/>
            <a:ext cx="6623316" cy="377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86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9F07900-B0D0-5AA3-BAE2-F264CD985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1320" y="0"/>
            <a:ext cx="5749359" cy="6353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6965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E825848-9B31-572F-BB43-9B4D08FE7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0503" y="0"/>
            <a:ext cx="5450993" cy="6380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942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493C17-8424-228C-1BB6-8AB5A97AC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Complejidades</a:t>
            </a:r>
            <a:endParaRPr lang="es-MX" dirty="0"/>
          </a:p>
        </p:txBody>
      </p:sp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442A08FB-C624-D7EC-F86E-C056594CB8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77552" y="2230986"/>
            <a:ext cx="7497221" cy="351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4830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BB9E6A-68F1-5244-5355-EA2E87D6B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Asignación</a:t>
            </a:r>
            <a:r>
              <a:rPr lang="en-US" dirty="0"/>
              <a:t> drones-bases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9C1D38-9AAB-6A1D-108A-9890F64CE8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La elección de bases se maneja mediante una </a:t>
            </a:r>
            <a:r>
              <a:rPr lang="es-MX" b="1" dirty="0"/>
              <a:t>búsqueda combinatoria estocástica</a:t>
            </a:r>
            <a:r>
              <a:rPr lang="es-MX" dirty="0"/>
              <a:t>, donde se generan todas las combinaciones posibles drones–bases y se selecciona un </a:t>
            </a:r>
            <a:r>
              <a:rPr lang="es-MX" b="1" dirty="0"/>
              <a:t>subconjunto aleatorio sin repetición</a:t>
            </a:r>
            <a:r>
              <a:rPr lang="es-MX" dirty="0"/>
              <a:t> para su evaluación.</a:t>
            </a:r>
          </a:p>
          <a:p>
            <a:r>
              <a:rPr lang="es-MX" dirty="0"/>
              <a:t>Sobre cada combinación seleccionada se aplica la </a:t>
            </a:r>
            <a:r>
              <a:rPr lang="es-MX" b="1" dirty="0"/>
              <a:t>metaheurística </a:t>
            </a:r>
            <a:r>
              <a:rPr lang="es-MX" b="1" dirty="0" err="1"/>
              <a:t>Tabu</a:t>
            </a:r>
            <a:r>
              <a:rPr lang="es-MX" b="1" dirty="0"/>
              <a:t> </a:t>
            </a:r>
            <a:r>
              <a:rPr lang="es-MX" b="1" dirty="0" err="1"/>
              <a:t>Search</a:t>
            </a:r>
            <a:r>
              <a:rPr lang="es-MX" dirty="0"/>
              <a:t>, ejecutándose de forma </a:t>
            </a:r>
            <a:r>
              <a:rPr lang="es-MX" b="1" dirty="0"/>
              <a:t>paralela y asíncrona</a:t>
            </a:r>
            <a:r>
              <a:rPr lang="es-MX" dirty="0"/>
              <a:t> para identificar la asignación con la menor urgencia acumulada.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123235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3FCFB6-FF89-5466-4FFD-4D5617D41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Resultados</a:t>
            </a:r>
            <a:endParaRPr lang="es-MX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940C21A3-6E79-C47B-7DA9-1CADD7665F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44111" y="2332093"/>
            <a:ext cx="5259239" cy="3175869"/>
          </a:xfrm>
          <a:prstGeom prst="rect">
            <a:avLst/>
          </a:prstGeom>
        </p:spPr>
      </p:pic>
      <p:pic>
        <p:nvPicPr>
          <p:cNvPr id="6" name="trayectorias_animadas">
            <a:hlinkClick r:id="" action="ppaction://media"/>
            <a:extLst>
              <a:ext uri="{FF2B5EF4-FFF2-40B4-BE49-F238E27FC236}">
                <a16:creationId xmlns:a16="http://schemas.microsoft.com/office/drawing/2014/main" id="{98C070D8-2DC3-322E-FA4E-F1EF8BDC643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048949" y="0"/>
            <a:ext cx="6044859" cy="6044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213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66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1EE1891-79E9-D335-7BBD-133B9DD1F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17" y="477982"/>
            <a:ext cx="12055165" cy="5633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9154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C098D2-16C3-825C-D256-DC79321F0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Mejoras</a:t>
            </a:r>
            <a:r>
              <a:rPr lang="en-US" dirty="0"/>
              <a:t> </a:t>
            </a:r>
            <a:r>
              <a:rPr lang="en-US" dirty="0" err="1"/>
              <a:t>posibles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DCB622-993F-4D91-6187-810EEC4970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- </a:t>
            </a:r>
            <a:r>
              <a:rPr lang="en-US" b="1" dirty="0" err="1"/>
              <a:t>generarVecinos</a:t>
            </a:r>
            <a:r>
              <a:rPr lang="en-US" b="1" dirty="0"/>
              <a:t>(): </a:t>
            </a:r>
            <a:r>
              <a:rPr lang="en-US" dirty="0" err="1"/>
              <a:t>Debemos</a:t>
            </a:r>
            <a:r>
              <a:rPr lang="en-US" dirty="0"/>
              <a:t> </a:t>
            </a:r>
            <a:r>
              <a:rPr lang="en-US" dirty="0" err="1"/>
              <a:t>buscar</a:t>
            </a:r>
            <a:r>
              <a:rPr lang="en-US" dirty="0"/>
              <a:t> </a:t>
            </a:r>
            <a:r>
              <a:rPr lang="en-US" dirty="0" err="1"/>
              <a:t>reducir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complejidad</a:t>
            </a:r>
            <a:r>
              <a:rPr lang="en-US" dirty="0"/>
              <a:t> </a:t>
            </a:r>
            <a:r>
              <a:rPr lang="en-US" dirty="0" err="1"/>
              <a:t>viendo</a:t>
            </a:r>
            <a:r>
              <a:rPr lang="en-US" dirty="0"/>
              <a:t> </a:t>
            </a:r>
            <a:r>
              <a:rPr lang="en-US" dirty="0" err="1"/>
              <a:t>posible</a:t>
            </a:r>
            <a:r>
              <a:rPr lang="en-US" dirty="0"/>
              <a:t> </a:t>
            </a:r>
            <a:r>
              <a:rPr lang="en-US" dirty="0" err="1"/>
              <a:t>trabajar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conjunto de </a:t>
            </a:r>
            <a:r>
              <a:rPr lang="en-US" dirty="0" err="1"/>
              <a:t>soluciones</a:t>
            </a:r>
            <a:r>
              <a:rPr lang="en-US" dirty="0"/>
              <a:t> </a:t>
            </a:r>
            <a:r>
              <a:rPr lang="en-US" dirty="0" err="1"/>
              <a:t>infactibles</a:t>
            </a:r>
            <a:r>
              <a:rPr lang="en-US" dirty="0"/>
              <a:t> o </a:t>
            </a:r>
            <a:r>
              <a:rPr lang="en-US" dirty="0" err="1"/>
              <a:t>analizando</a:t>
            </a:r>
            <a:r>
              <a:rPr lang="en-US" dirty="0"/>
              <a:t> la </a:t>
            </a:r>
            <a:r>
              <a:rPr lang="en-US" dirty="0" err="1"/>
              <a:t>factibilidad</a:t>
            </a:r>
            <a:r>
              <a:rPr lang="en-US" dirty="0"/>
              <a:t> </a:t>
            </a:r>
            <a:r>
              <a:rPr lang="en-US" dirty="0" err="1"/>
              <a:t>dinámicamente</a:t>
            </a:r>
            <a:r>
              <a:rPr lang="en-US" dirty="0"/>
              <a:t>.</a:t>
            </a:r>
          </a:p>
          <a:p>
            <a:r>
              <a:rPr lang="en-US" dirty="0"/>
              <a:t>- En </a:t>
            </a:r>
            <a:r>
              <a:rPr lang="en-US" dirty="0" err="1"/>
              <a:t>caso</a:t>
            </a:r>
            <a:r>
              <a:rPr lang="en-US" dirty="0"/>
              <a:t> de </a:t>
            </a:r>
            <a:r>
              <a:rPr lang="en-US" dirty="0" err="1"/>
              <a:t>que</a:t>
            </a:r>
            <a:r>
              <a:rPr lang="en-US" dirty="0"/>
              <a:t> no se </a:t>
            </a:r>
            <a:r>
              <a:rPr lang="en-US" dirty="0" err="1"/>
              <a:t>consiga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solución</a:t>
            </a:r>
            <a:r>
              <a:rPr lang="en-US" dirty="0"/>
              <a:t> </a:t>
            </a:r>
            <a:r>
              <a:rPr lang="en-US" dirty="0" err="1"/>
              <a:t>inicial</a:t>
            </a:r>
            <a:r>
              <a:rPr lang="en-US" dirty="0"/>
              <a:t> </a:t>
            </a:r>
            <a:r>
              <a:rPr lang="en-US" dirty="0" err="1"/>
              <a:t>factible</a:t>
            </a:r>
            <a:r>
              <a:rPr lang="en-US" dirty="0"/>
              <a:t>, </a:t>
            </a:r>
            <a:r>
              <a:rPr lang="en-US" dirty="0" err="1"/>
              <a:t>trabajar</a:t>
            </a:r>
            <a:r>
              <a:rPr lang="en-US" dirty="0"/>
              <a:t> con un greedy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nos</a:t>
            </a:r>
            <a:r>
              <a:rPr lang="en-US" dirty="0"/>
              <a:t> </a:t>
            </a:r>
            <a:r>
              <a:rPr lang="en-US" dirty="0" err="1"/>
              <a:t>consiga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trayectoría</a:t>
            </a:r>
            <a:r>
              <a:rPr lang="en-US" dirty="0"/>
              <a:t> </a:t>
            </a:r>
            <a:r>
              <a:rPr lang="en-US" dirty="0" err="1"/>
              <a:t>factible</a:t>
            </a:r>
            <a:r>
              <a:rPr lang="en-US" dirty="0"/>
              <a:t> para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dron</a:t>
            </a:r>
            <a:endParaRPr lang="en-US" dirty="0"/>
          </a:p>
          <a:p>
            <a:r>
              <a:rPr lang="en-US" dirty="0"/>
              <a:t>- </a:t>
            </a:r>
            <a:r>
              <a:rPr lang="en-US" dirty="0" err="1"/>
              <a:t>Trabajar</a:t>
            </a:r>
            <a:r>
              <a:rPr lang="en-US" dirty="0"/>
              <a:t> con la </a:t>
            </a:r>
            <a:r>
              <a:rPr lang="en-US" dirty="0" err="1"/>
              <a:t>solución</a:t>
            </a:r>
            <a:r>
              <a:rPr lang="en-US" dirty="0"/>
              <a:t> </a:t>
            </a:r>
            <a:r>
              <a:rPr lang="en-US" dirty="0" err="1"/>
              <a:t>inicial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donde</a:t>
            </a:r>
            <a:r>
              <a:rPr lang="en-US" dirty="0"/>
              <a:t> </a:t>
            </a:r>
            <a:r>
              <a:rPr lang="en-US" dirty="0" err="1"/>
              <a:t>todas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movimientos</a:t>
            </a:r>
            <a:r>
              <a:rPr lang="en-US" dirty="0"/>
              <a:t> </a:t>
            </a:r>
            <a:r>
              <a:rPr lang="en-US" dirty="0" err="1"/>
              <a:t>inician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Halt </a:t>
            </a:r>
            <a:r>
              <a:rPr lang="en-US" dirty="0" err="1"/>
              <a:t>tiene</a:t>
            </a:r>
            <a:r>
              <a:rPr lang="en-US" dirty="0"/>
              <a:t> </a:t>
            </a:r>
            <a:r>
              <a:rPr lang="en-US" dirty="0" err="1"/>
              <a:t>errores</a:t>
            </a:r>
            <a:r>
              <a:rPr lang="en-US" dirty="0"/>
              <a:t>.</a:t>
            </a:r>
          </a:p>
          <a:p>
            <a:r>
              <a:rPr lang="en-US" dirty="0"/>
              <a:t>- </a:t>
            </a:r>
            <a:r>
              <a:rPr lang="en-US" dirty="0" err="1"/>
              <a:t>Mejorar</a:t>
            </a:r>
            <a:r>
              <a:rPr lang="en-US" dirty="0"/>
              <a:t> la </a:t>
            </a:r>
            <a:r>
              <a:rPr lang="en-US" dirty="0" err="1"/>
              <a:t>visualización</a:t>
            </a:r>
            <a:r>
              <a:rPr lang="en-US" dirty="0"/>
              <a:t> de la </a:t>
            </a:r>
            <a:r>
              <a:rPr lang="en-US" dirty="0" err="1"/>
              <a:t>solución</a:t>
            </a:r>
            <a:r>
              <a:rPr lang="en-US" dirty="0"/>
              <a:t>, </a:t>
            </a:r>
            <a:r>
              <a:rPr lang="en-US" dirty="0" err="1"/>
              <a:t>corrigiendo</a:t>
            </a:r>
            <a:r>
              <a:rPr lang="en-US" dirty="0"/>
              <a:t> </a:t>
            </a:r>
            <a:r>
              <a:rPr lang="en-US" dirty="0" err="1"/>
              <a:t>ciertos</a:t>
            </a:r>
            <a:r>
              <a:rPr lang="en-US" dirty="0"/>
              <a:t> </a:t>
            </a:r>
            <a:r>
              <a:rPr lang="en-US" dirty="0" err="1"/>
              <a:t>errores</a:t>
            </a:r>
            <a:r>
              <a:rPr lang="en-US" dirty="0"/>
              <a:t>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94716689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4286013_TF33845126.potx" id="{B8D1E2EA-869A-4EAC-8466-7853288BAD1D}" vid="{E464F45F-0C7F-443C-A9CC-BA5329EA4F8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ppt/theme/themeOverride2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38A3B04-B0F3-4C12-A722-52B5CF6D972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F5B1FD9-3BB6-4DA9-A089-3B68C2323D4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1747A963-53E0-44AF-AF13-963FE676C6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{19FCC01C-4387-42CD-B56E-1FAC42F742E1}tf33845126_win32</Template>
  <TotalTime>160</TotalTime>
  <Words>402</Words>
  <Application>Microsoft Office PowerPoint</Application>
  <PresentationFormat>Panorámica</PresentationFormat>
  <Paragraphs>45</Paragraphs>
  <Slides>16</Slides>
  <Notes>2</Notes>
  <HiddenSlides>0</HiddenSlides>
  <MMClips>1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Bookman Old Style</vt:lpstr>
      <vt:lpstr>Calibri</vt:lpstr>
      <vt:lpstr>Cambria Math</vt:lpstr>
      <vt:lpstr>Franklin Gothic Book</vt:lpstr>
      <vt:lpstr>1_RetrospectVTI</vt:lpstr>
      <vt:lpstr>Persistent Surveillance Problem</vt:lpstr>
      <vt:lpstr>Introducción</vt:lpstr>
      <vt:lpstr>Objetivo y restricciones</vt:lpstr>
      <vt:lpstr>Técnica: Tabú Search</vt:lpstr>
      <vt:lpstr>Representación</vt:lpstr>
      <vt:lpstr>Función de Evaluación</vt:lpstr>
      <vt:lpstr>Movimiento</vt:lpstr>
      <vt:lpstr>Solución inicial y conjunto de soluciones</vt:lpstr>
      <vt:lpstr>Escenario en código</vt:lpstr>
      <vt:lpstr>Presentación de PowerPoint</vt:lpstr>
      <vt:lpstr>Presentación de PowerPoint</vt:lpstr>
      <vt:lpstr>Complejidades</vt:lpstr>
      <vt:lpstr>Asignación drones-bases</vt:lpstr>
      <vt:lpstr>Resultados</vt:lpstr>
      <vt:lpstr>Presentación de PowerPoint</vt:lpstr>
      <vt:lpstr>Mejoras posibles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German Fernandez Herrera (Alumno)</dc:creator>
  <cp:lastModifiedBy>German Fernandez Herrera (Alumno)</cp:lastModifiedBy>
  <cp:revision>1</cp:revision>
  <dcterms:created xsi:type="dcterms:W3CDTF">2025-11-10T11:32:16Z</dcterms:created>
  <dcterms:modified xsi:type="dcterms:W3CDTF">2025-11-10T14:12:17Z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